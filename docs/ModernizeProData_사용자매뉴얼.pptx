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1CDB5"/>
                </a:solidFill>
              </a:rPr>
              <a:t>ModernizeProData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사용자 매뉴얼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CDB5"/>
                </a:solidFill>
              </a:rPr>
              <a:t>User Manual  |  데이터 이행 워크플로우 안내서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2560320"/>
            <a:ext cx="2651760" cy="182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E99"/>
                </a:solidFill>
              </a:rPr>
              <a:t>문서 버전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v1.0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2944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E99"/>
                </a:solidFill>
              </a:rPr>
              <a:t>대상 제품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34440" y="2944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ModernizeProData Enterprise (on-premise)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3191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E99"/>
                </a:solidFill>
              </a:rPr>
              <a:t>대상 독자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34440" y="319125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Admin / Reviewer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3438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E99"/>
                </a:solidFill>
              </a:rPr>
              <a:t>발행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34440" y="34381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E99"/>
                </a:solidFill>
              </a:rPr>
              <a:t>Overview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12801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E2A"/>
                </a:solidFill>
              </a:rPr>
              <a:t>ModernizeProData는 레거시 데이터베이스의 데이터를 신규 데이터베이스로 안전하게 이행하기 위한 워크플로우 기반 온프레미스 도구입니다.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E2A"/>
                </a:solidFill>
              </a:rPr>
              <a:t>본 매뉴얼은 매핑 작업자(Admin / Reviewer)가 분석 → 매핑 → 리허설 → 승인 → 컷오버 단계를 수행하는 데 필요한 모든 기능을 설명합니다.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0" y="2514600"/>
            <a:ext cx="5212080" cy="182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5786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6F"/>
                </a:solidFill>
              </a:rPr>
              <a:t>주요 챕터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852928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1.  시작하기 — 시스템 요구 사항 및 화면 구성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2.  사이트와 프로젝트 관리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3.  Dashboard — 마이그레이션 준비도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4.  Mapping — 테이블 바인딩 및 컬럼 매핑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5.  Versions — 스냅샷과 승인 워크플로우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6.  Execution — 실행과 실시간 모니터링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7.  Artifacts / Log Viewer / Settings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8.  부록 — 단축키, 용어집, FAQ, 트러블슈팅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23460"/>
            <a:ext cx="3200400" cy="320040"/>
          </a:xfrm>
          <a:prstGeom prst="rect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234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KS Information System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54480" y="48234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CDB5"/>
                </a:solidFill>
              </a:rPr>
              <a:t>User Manual Edition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- 2 -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목차.  Table of Contents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8686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머리말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57400" y="86868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본 도구의 목적과 워크플로우 개요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216152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1615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12161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시작하기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57400" y="12161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시스템 요구 사항, 로그인, 화면 구성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156362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사이트와 프로젝트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57400" y="156362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사이트 전환, 프로젝트 단계 관리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911096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91109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191109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Dashboard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57400" y="191109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KPI 스트립, 테이블 목록, 필터와 정렬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258568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258568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22585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Mapping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57400" y="225856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듀얼 인벤토리, 바인딩, 컬럼 매핑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868680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86868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38928" y="86868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Versions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86868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스냅샷 생성, 승인 워크플로우, 변경 이력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216152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21615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38928" y="12161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Execution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46520" y="12161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Preflight, 진행률, Quarantine, Run 제어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1563624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563624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38928" y="156362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Artifacts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46520" y="156362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산출물 조회 및 내보내기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1911096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91109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38928" y="191109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Log Viewer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46520" y="1911096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레벨 필터, 실시간 로그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258568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258568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38928" y="22585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Settings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46520" y="22585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프로젝트 설정, Solution Settings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2606040"/>
            <a:ext cx="320040" cy="246888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606040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38928" y="26060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2A"/>
                </a:solidFill>
              </a:rPr>
              <a:t>부록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46520" y="260604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65"/>
                </a:solidFill>
              </a:rPr>
              <a:t>단축키, 용어집, FAQ, 트러블슈팅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- 3 -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2.  시작하기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2.1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시스템 요구 사항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2926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최소 사양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권장 사양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클라이언트 OS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Windows 10 / macOS 12 / Ubuntu 20.04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동일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브라우저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Chrome 110+ / Edge 110+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최신 안정판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화면 해상도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1366 × 768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1920 × 1080 이상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네트워크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사이트 내부망 접근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동일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228600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2.2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8408" y="22860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화면 구성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2514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A"/>
                </a:solidFill>
              </a:rPr>
              <a:t>본 도구의 화면은 좌측 사이드바, 상단 탑바, 우측 컨텐츠 영역 세 부분으로 구성됩니다.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구역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사이드바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솔루션 브랜드, 사이트 전환, 프로젝트 목록(단계별 그룹), 사용자 메뉴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탑바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화면 컨텍스트 정보, 알림 벨, AS-IS / TO-BE 연결 상태 뱃지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컨텐츠 영역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선택된 탭의 본 작업 화면 (Dashboard / Mapping / Versions / Execution / Artifacts / Logs / Settings)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E99"/>
                </a:solidFill>
              </a:rPr>
              <a:t>※  단축키 Ctrl + B (⌘ + B) 로 사이드바를 접거나 펼 수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- 4 -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3.  사이트와 프로젝트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3.1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사이트 (Site)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E2A"/>
                </a:solidFill>
              </a:rPr>
              <a:t>사이트는 한 고객사 또는 한 데이터센터의 작업 영역입니다. 사이드바 상단의 사이트 스위처에서 전환하며, 사이트별로 독립된 프로젝트 목록·자격증명·환경 메타데이터가 관리됩니다.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508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3.2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15087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프로젝트 단계 (Phase)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planning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요건 정의·범위 산정 단계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analysis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DDL 도입·스키마 차이 분석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rehearsal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매핑 정의 및 반복 리허설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sign-off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최종 승인 대기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cutover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컷오버 진행 중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hypercare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컷오버 직후 안정화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종료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65760" y="150876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" y="1508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3.3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78408" y="15087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프로젝트 동작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737360"/>
          <a:ext cx="3017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Duplicate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매핑 규칙·바인딩만 복사. 자격증명·DDL은 제외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Rename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표시 이름 변경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Delete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영구 삭제. 매핑·스냅샷·실행 이력 모두 제거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- 5 -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4.  Dashboard — 마이그레이션 준비도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4.1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KPI 스트립 (화면 상단 6개 카드)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TO-BE tables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프로젝트의 전체 TO-BE 테이블 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Ready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모든 검증을 통과한 테이블 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Review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오류·경고·미매핑 등 확인이 필요한 테이블 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Unbound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AS-IS 소스가 한 건도 바인딩되지 않은 테이블 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Snapshot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가장 최근 매핑 스냅샷의 버전과 상태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Last run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가장 최근 실행 결과와 실행일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27889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4.2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8408" y="27889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테이블 목록 컬럼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TO-BE table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대상 테이블의 정규화된 이름 (클릭 시 Mapping 탭으로 이동)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Column coverage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매핑 완료된 컬럼 비율 (mapped/total) 및 진행 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Issues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오류·경고·미매핑 컬럼 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Readiness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테이블 단위 준비도 (ready / review / unbound)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- 6 -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5.  Mapping — 데이터 매핑 (개요)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5.1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듀얼 인벤토리 뱃지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뱃지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흰색 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라우팅·매핑 정보 없음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회색 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일부 라우팅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녹색 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모든 라우팅·매핑 완료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호박색 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검토 필요 (오류·경고 또는 미매핑)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⋈ 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JOIN N개 소스로 구성된 TO-BE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∪ 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UNION N개 소스로 구성된 TO-BE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5.2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컬럼 매핑 그리드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24128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Source field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AS-IS 컬럼 이름 또는 매핑 전략 (NULL / DEFAULT)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Source 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AS-IS 컬럼 자료형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Target field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TO-BE 컬럼 이름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Target 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TO-BE 컬럼 자료형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Rule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passthrough / transform / null / default / unmapped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ok / warn / error / queued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365760" y="310896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1208" y="3108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5.3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78408" y="31089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매핑 안 한 컬럼의 실행 시 동작</a:t>
            </a:r>
            <a:endParaRPr lang="en-US" sz="11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컬럼 상태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실행 시 동작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Preflight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nullable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NULL 채움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queued (실행 가능)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NOT NULL · DDL default 있음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DEFAULT 값 사용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queued (실행 가능)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NOT NULL · DDL default 없음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실행 차단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error (실행 불가)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- 7 -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5.  Mapping — Table Binding &amp; Inspector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5.4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Table Binding — 바인딩 추가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A"/>
                </a:solidFill>
              </a:rPr>
              <a:t>1.  Add source 버튼 클릭  →  2.  AS-IS 인벤토리에서 후보 테이블 선택  →  3.  첫 번째 소스는 자동으로 primary 역할 부여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371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5.5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1371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합성 모드 (JOIN / UNION)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모드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JOIN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primary 외 나머지 소스는 join 역할. 개별 JOIN 타입(LEFT / INNER / RIGHT / FULL)과 ON 절 편집 가능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UNION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모든 소스가 union 역할. 컬럼 이름 기준으로 자동 정렬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WHERE 필터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같은 AS-IS 테이블을 여러 TO-BE 슬라이스로 분할 사용 시 범위 한정. ⚲ WHERE 뱃지 노출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65760" y="265176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5.6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78408" y="26517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Inspector — 매핑 전략 지정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8036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그룹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옵션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활성 조건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AS-IS columns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바인딩에 포함된 모든 컬럼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바인딩이 1개 이상일 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No source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Use NULL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TO-BE 컬럼이 nullable 일 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No source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Use DDL default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TO-BE DDL 에 DEFAULT 절이 정의되어 있을 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365760" y="4297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E99"/>
                </a:solidFill>
              </a:rPr>
              <a:t>※  자료형이 동일하면 passthrough, 다르거나 SQL 변환식 입력 시 transform 으로 자동 결정됩니다.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A9E99"/>
                </a:solidFill>
              </a:rPr>
              <a:t>※  Advanced 토글에서 자유 형식 SQL 변환식 입력 가능: UPPER(TRIM(ACCT_NO)), TO_DATE(OPEN_DT,'YYYYMMDD') 등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- 8 -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6.  Versions — 스냅샷과 승인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A"/>
                </a:solidFill>
              </a:rPr>
              <a:t>매핑 정의는 살아 있는 작업물이지만, 실행은 승인된 스냅샷에 대해서만 가능합니다.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115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6.1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111556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스냅샷 상태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44168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draft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이전 승인본 이후 미반영 변경 (가상 행)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pending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리뷰어 검토 대기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approved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승인 완료 — 실행 가능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rejected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변경 요청 — 재스냅샷 필요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1344168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" y="1344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6.2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78408" y="134416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승인 워크플로우 동작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44168"/>
          <a:ext cx="3017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Approve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스냅샷을 approved 로 전환. 이 시점부터 실행 가능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Request changes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rejected 로 전환. 거부 사유 입력 필수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Reassign reviewer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다른 리뷰어로 변경 *(V1 예정)*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365760" y="27889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1208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6.3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78408" y="27889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변경 이력 색상</a:t>
            </a:r>
            <a:endParaRPr lang="en-US" sz="11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색상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녹색 (+)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신규 추가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청색 (~)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기존 항목 수정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적색 (−)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항목 제거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365760" y="27889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1208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6.4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78408" y="27889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Audit Log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754880" y="30175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A2E2A"/>
                </a:solidFill>
              </a:rPr>
              <a:t>자동 기록 이벤트 종류: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A2E2A"/>
                </a:solidFill>
              </a:rPr>
              <a:t>프로젝트 생성·삭제·이름 변경 / DDL 도입·삭제 / 바인딩 변경 / 컬럼 오버라이드 추가·수정·삭제 / 스냅샷 생성·승인·거부 / 실행 시작·종료·실패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- 9 -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7.  Execution — 실행과 모니터링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7.1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표준 Preflight 항목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검증 내용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차단 여부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conn-asis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AS-IS 데이터베이스 접속 가능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차단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conn-tobe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TO-BE 데이터베이스 접속 가능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차단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ddl-asis / ddl-tobe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AS-IS / TO-BE DDL 도입 완료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차단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tobe-bindings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모든 TO-BE 테이블 소스 바인딩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차단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asis-orphans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미사용 AS-IS 테이블 확인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경고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added-not-null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NOT NULL 신규 컬럼의 default 지정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차단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unmapped-cols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모든 TO-BE 컬럼 매핑 지정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차단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approved-snapshot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승인된 매핑 스냅샷 존재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차단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34747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3474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7.2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8408" y="34747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Run 제어 &amp; Quarantine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0332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Pause / Resume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일시 정지 후 재시작 가능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Abort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즉시 중단. 컷오버 모드에서는 추가 확인 다이얼로그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Quarantine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검증 실패 행을 격리 후 계속 진행. Skip / Retry / Block 옵션 제공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격리 임계치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사이트별 임계치(기본 0.1%) 초과 시 Job FAIL, 미만이면 WARN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- 10 -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8/9.  Artifacts &amp; Log Viewer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Artifacts — 산출물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산출물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Mapping YAML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컬럼 매핑 규칙 전체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Bindings YAML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테이블 바인딩 정의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TO-BE DDL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합성된 TO-BE 스키마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Migration 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실행될 INSERT/SELECT 모음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Validation report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마지막 실행의 검증 결과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65760" y="26974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B65"/>
                </a:solidFill>
              </a:rPr>
              <a:t>각 산출물은 Download 버튼으로 파일 내보내기, Copy 로 클립보드 복사가 가능합니다.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3035808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" y="3035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9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78408" y="303580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Log Viewer — 로그 조회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64408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레벨 필터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DEBUG / INFO / WARN / ERROR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컴포넌트 필터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extract / transform / load / quarantine / scheduler 등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본문 검색 &amp; 시간 범위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키워드 검색 및 시간 범위 지정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실시간 추가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활성 Run 중 새 로그를 WebSocket 으로 실시간 수신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- 11 -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10.  Settings — 프로젝트 설정 &amp; Solution Settings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10.1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프로젝트 Settings 6개 섹션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섹션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주요 기능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General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이름·도메인·단계 수동 변경·Cutover 예정일·복제·삭제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Source (AS-IS)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DDL 도입·삭제, DB 자격증명, Test connection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Target (TO-BE)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Source 섹션과 동일 구조. 독립 관리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Schedule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Nightly rehearsal 스케줄, Cutover window, External trigger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Notifications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인앱 알림 구독 이벤트 관리 (폐쇄망 유일 채널)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Danger zone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Project 삭제 / DDL 초기화 / 모든 매핑 override 초기화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306324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10.2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8408" y="30632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Solution Settings (전역)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카드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주요 옵션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Appearance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Language (영/한/일/중), Theme (Light / Dark)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Notifications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Run completion / Errors 알림 시점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External integrations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기본 비활성. 외부 스케줄러 CLI·API endpoint·토큰·Syslog 전달 설정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ModernizeProData 사용자 매뉴얼  |  ModernizeProData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- 12 -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KS Info System Co., Ltd.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4978908"/>
            <a:ext cx="8412480" cy="91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201168" cy="237744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4114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A"/>
                </a:solidFill>
              </a:rPr>
              <a:t>부록.  단축키 일람 &amp; 용어집 (요약)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단축키 — Navigation &amp; Run control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297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단축키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Alt + 1~5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Dashboard / Mapping / Execution / Log Viewer / Artifacts 이동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F5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Run all — 활성 프로젝트 실행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Shift + F5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활성 Run 중단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F6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매핑 검증 (Validate)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F7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직전 실행 실패 항목만 재실행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F8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다음 Stage 로 단계 이동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804672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8408" y="80467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단축키 — Project &amp; Windows &amp; Tables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24128"/>
          <a:ext cx="4023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단축키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Ctrl + B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사이드바 토글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Ctrl + N / O / 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새 프로젝트 / 열기 / 탭 닫기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Ctrl + , / F1 / Esc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Settings 열기 / Help 모달 / 모달 닫기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Ctrl + 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필터 입력란 포커스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↑ / ↓ / Space / Enter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행 이동 / 선택 토글 / 행 열기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Ctrl + A / D / Enter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전체 선택 / 해제 / 매핑 변경 적용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365760" y="27889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1208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C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78408" y="27889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핵심 용어집</a:t>
            </a:r>
            <a:endParaRPr lang="en-US" sz="11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852928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용어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정의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D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AS-IS / TO-BE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이행 전 레거시 / 이행 후 신규 DB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Binding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TO-BE 테이블에 AS-IS 테이블을 연결하는 정의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Snapshot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특정 시점의 매핑 정의를 동결한 버전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Quarantine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이행 중 검증 실패로 격리된 행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Preflight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실행 전 차단 검증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Cutover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E2A"/>
                          </a:solidFill>
                        </a:rPr>
                        <a:t>운영 환경으로 실제 이행을 수행하는 단계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365760" y="2788920"/>
            <a:ext cx="109728" cy="164592"/>
          </a:xfrm>
          <a:prstGeom prst="rect">
            <a:avLst/>
          </a:prstGeom>
          <a:solidFill>
            <a:srgbClr val="71CDB5"/>
          </a:solidFill>
          <a:ln w="12700">
            <a:solidFill>
              <a:srgbClr val="71CDB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1208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6F"/>
                </a:solidFill>
              </a:rPr>
              <a:t>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978408" y="27889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A"/>
                </a:solidFill>
              </a:rPr>
              <a:t>FAQ 요약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65760" y="30175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6F"/>
                </a:solidFill>
              </a:rPr>
              <a:t>Q. 자동 매핑이 없는 이유?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7200" y="32186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A"/>
                </a:solidFill>
              </a:rPr>
              <a:t>의미가 다른 컬럼 간 오연결 위험. 모든 매핑을 사용자가 명시적으로 결정하는 정책 채택.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65760" y="34930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6F"/>
                </a:solidFill>
              </a:rPr>
              <a:t>Q. 스냅샷 삭제 불가?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7200" y="36941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A"/>
                </a:solidFill>
              </a:rPr>
              <a:t>rejected 처리 후 새 스냅샷 생성으로 이어가시기 바랍니다.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65760" y="39684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6F"/>
                </a:solidFill>
              </a:rPr>
              <a:t>Q. 외부 채널 알림?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57200" y="41696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A"/>
                </a:solidFill>
              </a:rPr>
              <a:t>폐쇄망에서는 인앱 알림 인박스가 유일 채널. External integrations 활성 시 Syslog 가능.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ModernizeProData 사용자 매뉴얼</dc:title>
  <dc:subject>PptxGenJS Presentation</dc:subject>
  <dc:creator>PptxGenJS</dc:creator>
  <cp:lastModifiedBy>PptxGenJS</cp:lastModifiedBy>
  <cp:revision>1</cp:revision>
  <dcterms:created xsi:type="dcterms:W3CDTF">2026-05-07T07:33:04Z</dcterms:created>
  <dcterms:modified xsi:type="dcterms:W3CDTF">2026-05-07T07:33:04Z</dcterms:modified>
</cp:coreProperties>
</file>