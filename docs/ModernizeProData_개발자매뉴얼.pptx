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1CDB5"/>
                </a:solidFill>
              </a:rPr>
              <a:t>ModernizeProData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개발 매뉴얼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CDB5"/>
                </a:solidFill>
              </a:rPr>
              <a:t>Developer Manual  |  설계·구현·배포 가이드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2560320"/>
            <a:ext cx="2651760" cy="182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문서 버전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v1.0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대상 제품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34440" y="2944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ModernizeProData Enterprise (on-premise)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3191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대상 독자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34440" y="31912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신규 구축·확장·유지보수 개발자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3438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발행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34440" y="3438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99"/>
                </a:solidFill>
              </a:rPr>
              <a:t>Overview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E2A"/>
                </a:solidFill>
              </a:rPr>
              <a:t>본 매뉴얼은 ModernizeProData의 시스템 구조·구현 방식·확장 절차를 정의합니다.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E2A"/>
                </a:solidFill>
              </a:rPr>
              <a:t>온프레미스 폐쇄망 환경에서 동작하며 단일 JAR + jpackage MSI 형태로 배포되는 데스크탑 설치형 제품입니다.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2377440"/>
            <a:ext cx="5212080" cy="182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4505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6F"/>
                </a:solidFill>
              </a:rPr>
              <a:t>주요 챕터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71576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1.  시스템 아키텍처 &amp; 모듈 구조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2.  기술 스택 (Java 17 / Spring Boot 3.x / H2 / React 18)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3.  도메인 모델 &amp; 메타 DB 스키마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4.  백엔드 구현 — 패키지·예외·트랜잭션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5.  Spring Batch 이행 엔진 (Job/Step/Quarantine)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6.  JDBC 드라이버 동적 로딩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7.  REST API &amp; WebSocket 명세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8.  빌드·패키징·배포 (jpackage MSI)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23460"/>
            <a:ext cx="3200400" cy="320040"/>
          </a:xfrm>
          <a:prstGeom prst="rect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234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KS Information System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48234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CDB5"/>
                </a:solidFill>
              </a:rPr>
              <a:t>Developer Manual Edition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- 2 -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목차.  Table of Contents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8686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머리말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38528" y="868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온프레미스 설계 원칙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197864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9786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11978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시스템 아키텍처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38528" y="11978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전체 구성도, 핵심 설계 원칙, 모듈 분리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527048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270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기술 스택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38528" y="1527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런타임, 프론트엔드, 빌드 도구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1856232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8562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3232" y="18562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디렉터리 구조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38528" y="18562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백엔드/프론트엔드 폴더 트리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185416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8541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232" y="2185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개발 환경 구축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2185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JDK 17, Node.js, 통합 실행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514600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1460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3232" y="2514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도메인 모델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38528" y="2514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핵심 엔티티, 주요 enum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2843784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437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" y="28437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메타 데이터베이스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38528" y="2843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Flyway, H2 표준 스키마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868680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8686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02352" y="8686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백엔드 구현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868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패키지, 예외 처리, 트랜잭션, 보안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1197864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19786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02352" y="11978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Spring Batch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27648" y="11978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Job 구성, Reader/Processor/Writer, Quarantine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1527048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15270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02352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JDBC 드라이버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27648" y="15270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동적 로딩, 격리 ClassLoader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54880" y="1856232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18562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02352" y="18562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REST API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27648" y="1856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엔드포인트 명세, 표준 DTO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2185416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18541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02352" y="2185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WebSocket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27648" y="21854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STOMP/SockJS 토픽 명세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54880" y="2514600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251460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102352" y="2514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빌드와 패키징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27648" y="2514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fat jar, jpackage MSI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54880" y="2843784"/>
            <a:ext cx="29260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28437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14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02352" y="28437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A"/>
                </a:solidFill>
              </a:rPr>
              <a:t>배포와 운영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27648" y="2843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65"/>
                </a:solidFill>
              </a:rPr>
              <a:t>시스템 요구사항, 모니터링, 백업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- 3 -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2.  시스템 아키텍처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2.2  핵심 설계 원칙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원칙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단일 노드 우선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한 사이트당 1개 인스턴스 기본. HA·DR 인스턴스 추가 가능하나 동시 실행은 라이선스로 통제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로컬 우선 통신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프론트엔드↔백엔드는 동일 호스트 loopback 통신. 외부 노출은 별도 endpoint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명시적 사용자 결정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자동 추론 최소화. 모든 매핑은 사용자 결정으로만 활성화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승인 게이트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실행은 반드시 승인된 스냅샷에 대해서만 가능. 모든 변경은 Audit log 에 기록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265176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651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2.3  모듈 분리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모듈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책임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mpd-core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도메인 모델·공통 유틸리티·예외 정의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mpd-meta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H2 Meta DB 마이그레이션·MyBatis 매퍼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mpd-driver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JDBC 드라이버 등록·격리·연결 풀 관리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mpd-batch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Spring Batch Job·Step·Reader·Processor·Writer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mpd-api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REST 컨트롤러·DTO·검증·예외 변환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WebSocket 채널·이벤트 브로드캐스트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인증·인가·라이선스 검증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mpd-app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Spring Boot 부트스트랩·구성 통합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- 4 -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3.  기술 스택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3.1  런타임 (Backend)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24688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17.0.x LTS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Temurin 또는 Azul 권장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Spring Boot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3.2.x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3.3 마이너 업데이트 가능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Spring Batch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5.1.x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MyBatis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3.5.x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mybatis-spring-boot-starter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H2 Database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2.2.x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file mode (AUTO_SERVER=FALSE)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Spring WebSocket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Boot 동봉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STOMP over SockJS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Tomcat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10.1 (embedded)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3.2  프론트엔드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24128"/>
          <a:ext cx="3200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React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18.x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TypeScript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5.x (strict)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Vite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5.x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Tailwind CSS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3.x (JIT)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zustand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상태 관리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axios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1.x (REST)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@stomp/stompjs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WebSocket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365760" y="32004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352" y="32004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3.3  빌드 도구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도구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Gradle 8.x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멀티 모듈 백엔드 빌드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pnpm 9.x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프론트엔드 패키지 매니저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jpackage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데스크탑 설치형 패키징 (JRE 번들 MSI)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- 5 -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6.  도메인 모델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6.1  핵심 엔티티 계층 구조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024128"/>
            <a:ext cx="4206240" cy="329184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0704"/>
            <a:ext cx="39867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(사이트)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Project (프로젝트)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 Connection × 2 (asis, tobe)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 DdlImport × 2 (asis, tobe)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 SchemaDiff × N        (TO-BE 테이블별)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├─ Source × N      (binding, JOIN/UNION)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├─ ColumnOverride × N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└─ WhereFilter (선택)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 MappingSnapshot × N   (versions)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└─ Approval (1:1)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 Run × N               (실행 이력)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├─ Stage × N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└─ Quarantine × N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 AuditLog × 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6.2  주요 enum (변경사항 포함)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2976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enum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주요 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ProjectPhase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프로젝트 단계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PLANNING / ANALYSIS / REHEARSAL / SIGN_OFF / CUTOVER / HYPERCARE / DONE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SnapshotStatus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스냅샷 상태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DRAFT / PENDING / APPROVED / REJECTED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RunMode / RunResult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실행 모드·결과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REHEARSAL/CUTOVER · RUNNING/OK/WARN/FAILED/ABORTED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MappingStrategy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사용자 입력 전략 (Inspector)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SOURCE_COLUMN / NULL_FILL / DDL_DEFAULT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MappingRule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시스템 결정 결과값 (그리드 표시)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PASSTHROUGH / TRANSFORM / NULL_FILL / DDL_DEFAULT / UNMAPPED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MappingStatus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컬럼 행별 검증 상태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OK / WARN / ERROR / QUEUED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BindingRole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바인딩 역할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PRIMARY / JOIN / UNION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ConnectionStatus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연결 상태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UNTESTED / OK / FAILED / STALE / TESTING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7A9E99"/>
                </a:solidFill>
              </a:rPr>
              <a:t>※  MappingStrategy(사용자 선택) ≠ MappingRule(시스템 결정). 사용자는 SOURCE_COLUMN 만 선택하면 시스템이 자료형 delta·SQL식 유무로 PASSTHROUGH 또는 TRANSFORM 을 결정합니다.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- 6 -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7.  메타 데이터베이스 (H2) 스키마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7.1  주요 테이블 목록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  <a:gridCol w="21945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주요 컬럼 (요약)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id, code, name, env, db_kind, db_version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사이트 단위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id, site_id, code, name, phase, cutover_at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FK: 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connection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project_id, side(asis/tobe), jdbc_url, password_enc, 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AES-GCM 암호화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ddl_import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project_id, side, filename, table_count, raw_text(CLOB)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schema_diff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project_id, internal_name, tobe_name, where_filter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TO-BE 테이블별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column_override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schema_diff_id, tobe_col_name, rule, transform_expr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UNIQUE(diff+col)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mapping_snapshot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project_id, version, status, payload_json(CLOB)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전체 매핑 동결본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migration_run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project_id, snapshot_id, mode, result, rows_total, rows_loaded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실행 이력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run_quarantine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run_id, stage, severity, reason, count_rows, sample_json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격리 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audit_log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project_id, at, actor, action, target, detail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변경 불가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E99"/>
                </a:solidFill>
              </a:rPr>
              <a:t>※  Flyway 마이그레이션 스크립트: mpd-app/src/main/resources/db/migration/V&lt;날짜&gt;__&lt;설명&gt;.sql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- 7 -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8.  백엔드 구현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8.1  패키지 구조 표준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024128"/>
            <a:ext cx="4206240" cy="228600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0704"/>
            <a:ext cx="398678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com.ksinfo.mpd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         (공통 예외, 도메인 enum, 상수)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meta         (메타 DB 매퍼: domain / mapper / repository)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driver       (JDBC 드라이버 관리)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batch        (Spring Batch: job / step / reader / processor / writer)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          (REST: controller / dto / mapper / exception)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ws           (WebSocket: controller / event)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security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config       (모든 @Configuration)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8.2  예외 처리 표준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24128"/>
          <a:ext cx="3931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8229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에러 코드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HTTP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PROJECT_NOT_FOUND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404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프로젝트 없음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SNAPSHOT_NOT_APPROVED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409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미승인 스냅샷으로 실행 시도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PREFLIGHT_BLOCKED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409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Preflight 차단 항목 존재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LICENSE_EXPIRED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라이선스 만료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DRIVER_NOT_REGISTERED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412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JDBC 드라이버 미등록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65760" y="34290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3429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8.3  트랜잭션 경계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576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규칙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조회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readOnly = true 명시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쓰기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서비스 레이어에서 @Transactional 1개 경계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Batch chunk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Spring Batch Step 내부 chunk 트랜잭션 자동 관리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- 8 -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9.  Spring Batch — 이행 엔진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9.1  MigrationJob 구성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024128"/>
            <a:ext cx="4572000" cy="292608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0704"/>
            <a:ext cx="43525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MigrationJob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preflightStep          (검증; 실패 시 Job 차단)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snapshotPinStep        (실행에 사용할 snapshot 고정)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schemaPrepareStep      (TO-BE DDL apply, 인덱스 비활성화)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migrationFlow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├─ extractStep       (AS-IS → 임시 큐)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├─ transformStep     (룰 적용)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├─ loadStep          (TO-BE → INSERT)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└─ validateStep      (FK·NOT NULL 검증, 격리)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schemaFinalizeStep     (인덱스·통계 갱신)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reportStep             (산출물 생성·해시)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9.2  Quarantine 격리 정책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24128"/>
          <a:ext cx="3931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동일 사유 누적 &gt; 임계치 (기본 0.1%)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Job FAIL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임계치 이하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Job 완료, Run 결과 = WARN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격리 행 저장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run_quarantine 테이블에 stage·reason·sample 적재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65760" y="32461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3246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9.3  진행률 이벤트 (WebSocket)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474720"/>
            <a:ext cx="4206240" cy="137160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511296"/>
            <a:ext cx="39867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RunProgressEvent {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runId, stageId,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rowsProcessed, rowsTotal,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throughputRowsPerSec,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etaSeconds, errors, warnings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32461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3246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9.4  멱등성 &amp; 재시작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347472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정책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재시작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실패 Job 재실행 시 마지막 커밋 시점부터 재개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중복 방지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같은 snapshot+target 두 번 실행 방지 (lock)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Cutover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restart-disabled — 재실행 대신 롤백 절차 적용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- 9 -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10.  JDBC 드라이버 동적 로딩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E2A"/>
                </a:solidFill>
              </a:rPr>
              <a:t>고객사 환경마다 DBMS 가 다르므로(Oracle, DB2, Tibero, MariaDB, PostgreSQL 등) 출하 시점에 모든 드라이버를 포함하지 않습니다. 사용자가 *.jar 드라이버를 등록하면 즉시 사용 가능하며, 드라이버 간 클래스 충돌에도 안전합니다.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98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10.1  구현 방식 — 격리 ClassLoader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527048"/>
            <a:ext cx="8412480" cy="201168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63624"/>
            <a:ext cx="81930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드라이버마다 별도 URLClassLoader 인스턴스 사용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register(String driverId, Path jarPath, String className) {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URLClassLoader cl = new URLClassLoader(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URL[]{ jarPath.toUri().toURL() },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ClassLoader.getSystemClassLoader().getParent()  // 부모 격리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 d = (Driver) Class.forName(className, true, cl)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.getDeclaredConstructor().newInstance();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drivers.put(driverId, new IsolatedDriver(driverId, cl, d));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657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10.2  등록 화면 및 검증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862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7665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UI 경로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Solution Settings › Drivers (License 활성 시 노출)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등록 정보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driverId, 표시 이름, jar 파일, FQCN, JDBC URL 템플릿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자동 검증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클래스 로딩 가능 여부 + 메타 DB 임시 connection 시도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- 10 -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11.  REST API 명세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4A6B65"/>
                </a:solidFill>
              </a:rPr>
              <a:t>Base path: /api/v1  |  인증: Bearer JWT 또는 세션 쿠키  |  페이징: ?page=0&amp;size=50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4A6B65"/>
                </a:solidFill>
              </a:rPr>
              <a:t>※  ColumnOverride 입력 시 rule → strategy (MappingStrategy enum) 로 변경됨. 그리드 표시용 MappingRule 은 시스템이 derive.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789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11.1  사이트 / 프로젝트 / DDL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07592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8404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/sites / /sites/{id}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사이트 목록 조회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GET/POST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/sites/{id}/projects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프로젝트 목록 / 생성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PATCH/DELETE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수정 / 삭제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/projects/{id}:duplicate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복제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/projects/{id}/connections/{side}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연결 설정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/projects/{id}/connections/{side}:test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연결 테스트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POST/DELETE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/projects/{id}/ddl/{side}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DDL 도입 / 삭제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329184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291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11.2  매핑 / 스냅샷 / 실행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33832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GET/PUT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/projects/{id}/schema-diff/{name}/columns/{col}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컬럼 오버라이드 조회 / 설정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GET/POST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/projects/{id}/snapshots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스냅샷 목록 / 생성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/snapshots/{id}:approve  /  :reject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승인 / 거부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/projects/{id}/runs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실행 시작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/runs/{id}:pause  /  :resume  /  :abort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일시정지 / 재개 / 중단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- 11 -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12.  WebSocket 명세 &amp; 인증·인가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12.1  WebSocket 토픽 (STOMP over SockJS  |  endpoint: /ws)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31089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Destination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페이로드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/topic/runs/{runId}/progress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RunProgressEvent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chunk 커밋마다 발행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/topic/runs/{runId}/log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LogLineEvent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실시간 로그 라인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/topic/runs/{runId}/quarantine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QuarantineEvent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격리 추가 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/topic/projects/{id}/notifications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NotificationEvent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인앱 알림 푸시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/topic/system/health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HealthEvent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DB·라이선스·연결 상태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2514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E99"/>
                </a:solidFill>
              </a:rPr>
              <a:t>연결 수명: 60초 ping/pong. 끊김 감지 시 지수 백오프 재연결.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27889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788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13.1  인증 방식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방식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로컬 모드 (기본)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단일 사용자·세션 쿠키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확장 모드 (엔터프라이즈)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Spring Security + JWT, 사이트 LDAP/AD 연동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365760" y="27889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0352" y="2788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13.2  권한 모델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01752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권한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모든 동작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Maintainer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매핑·실행 가능, 프로젝트 삭제 불가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Reviewer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스냅샷 승인 가능, 매핑 편집 불가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Viewer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읽기 전용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- 12 -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14.  라이선스 검증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14.1  라이선스 파일 구조 (.lic)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024128"/>
            <a:ext cx="4206240" cy="201168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0704"/>
            <a:ext cx="398678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"v": 1,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"licenseId": "MPD-2026-0421-KDB",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"customer": "KDB Bank",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"edition": "enterprise",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"features": ["multi-site", "external-trigger"],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"issuedAt": "2026-04-21",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"expiresAt": "2027-04-21",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"graceDays": 14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signature: Ed25519 (JCS 정규화 + SHA-256)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14.2  라이선스 상태 및 영향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24128"/>
          <a:ext cx="3931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도구 동작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모든 기능 사용 가능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IN_GRACE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모든 기능 사용 가능 + 화면 상단 빨간 배너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EXPIRED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매핑 편집·실행 차단, 조회·내보내기만 가능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SITE_MISMATCH / CLOCK_TAMPERED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모든 기능 차단, 사이트 관리자 안내 화면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65760" y="32461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3246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14.3  시계 되감기 방지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34564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마지막 검증 시각을 AES-GCM 으로 봉인하여 data/license-state.bin 에 저장합니다.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검증 시 현재 시각이 last-seen 보다 이전이면 CLOCK_TAMPERED 로 처리하고 라이선스를 비활성화합니다.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- 13 -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16.  빌드와 패키징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16.1  빌드 흐름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024128"/>
            <a:ext cx="8412480" cy="274320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0704"/>
            <a:ext cx="819302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프론트엔드 빌드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run build                       # → frontend/dist/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정적 자산 복사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frontend/dist/* backend/mpd-app/src/main/resources/static/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백엔드 빌드 (fat jar)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:mpd-app:bootJar           # → mpd-app/build/libs/mpd-app-1.0.0.jar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jpackage MSI 생성 (Windows)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jpackage --type msi --name ModernizeProData \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--input dist/ --main-jar mpd-app-1.0.0.jar \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--main-class org.springframework.boot.loader.launch.JarLauncher \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--runtime-image build/jdk-17-runtime \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--icon installer/icons/mpd.ico \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--vendor "KS Info System Co., Ltd." --app-version 1.0.0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8862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16.2  산출물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148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9260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형태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파일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Standalone fat jar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mpd-app-{version}.jar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호스트 JRE 필요. java -jar 로 실행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데스크탑 설치형 (MSI)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ModernizeProData-Setup.exe (~100MB)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JRE 17 번들 포함. Java 설치 불필요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개발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- 14 -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17.  배포와 운영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804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17.1  시스템 요구사항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최소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권장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CPU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4 cores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8 cores 이상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8 GB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16 GB 이상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Disk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50 GB (Meta + 산출물)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200 GB SSD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Windows Server 2019 / RHEL 8 / Ubuntu 20.04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동일 최신 패치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25146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514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17.2  설치 후 디렉터리 구조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743200"/>
            <a:ext cx="4114800" cy="2103120"/>
          </a:xfrm>
          <a:prstGeom prst="rect">
            <a:avLst/>
          </a:prstGeom>
          <a:solidFill>
            <a:srgbClr val="0E1A2B"/>
          </a:solidFill>
          <a:ln w="12700">
            <a:solidFill>
              <a:srgbClr val="2A3A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2779776"/>
            <a:ext cx="38953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&lt;install&gt;/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bin/          실행 스크립트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lib/          fat jar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runtime/      동봉 JRE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mpd-meta.mv.db        H2 메타 DB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license-state.bin     봉인된 라이선스 상태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drivers/              등록된 JDBC 드라이버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runs/                 Run 산출물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application.yml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AD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logs/  (app.log / audit.log)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65760" y="25146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2514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17.3  모니터링 &amp; 백업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743200"/>
          <a:ext cx="4251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060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Health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/api/v1/health (Spring Actuator)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로그 파일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app.log / audit.log (변경 불가) / access.log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Meta DB 백업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*.mv.db 파일 일일 복사 또는 H2 BACKUP 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드라이버 백업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E2A"/>
                          </a:solidFill>
                        </a:rPr>
                        <a:t>data/drivers/ 디렉터리 함께 백업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ModernizeProData 개발 매뉴얼</dc:title>
  <dc:subject>PptxGenJS Presentation</dc:subject>
  <dc:creator>PptxGenJS</dc:creator>
  <cp:lastModifiedBy>PptxGenJS</cp:lastModifiedBy>
  <cp:revision>1</cp:revision>
  <dcterms:created xsi:type="dcterms:W3CDTF">2026-05-07T07:33:04Z</dcterms:created>
  <dcterms:modified xsi:type="dcterms:W3CDTF">2026-05-07T07:33:04Z</dcterms:modified>
</cp:coreProperties>
</file>